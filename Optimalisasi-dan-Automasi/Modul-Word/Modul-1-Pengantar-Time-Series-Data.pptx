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embeddedFontLst>
    <p:embeddedFont>
      <p:font typeface="Play"/>
      <p:regular r:id="rId18"/>
      <p:bold r:id="rId19"/>
    </p:embeddedFont>
    <p:embeddedFont>
      <p:font typeface="Open Sans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ileqN3Ow1ERXcSZncxqJLSgOM76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font" Target="fonts/Play-regular.fntdata"/><Relationship Id="rId19" Type="http://schemas.openxmlformats.org/officeDocument/2006/relationships/font" Target="fonts/Play-bold.fntdata"/><Relationship Id="rId20" Type="http://schemas.openxmlformats.org/officeDocument/2006/relationships/font" Target="fonts/OpenSans-bold.fntdata"/><Relationship Id="rId21" Type="http://schemas.openxmlformats.org/officeDocument/2006/relationships/font" Target="fonts/OpenSans-boldItalic.fntdata"/><Relationship Id="rId22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7eb2e6b715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7eb2e6b715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slide" Target="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slide" Target="slide4.xml"/><Relationship Id="rId4" Type="http://schemas.openxmlformats.org/officeDocument/2006/relationships/slide" Target="slide2.xml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slide" Target="slide5.xml"/><Relationship Id="rId4" Type="http://schemas.openxmlformats.org/officeDocument/2006/relationships/slide" Target="slide3.xml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slide" Target="slide6.xml"/><Relationship Id="rId4" Type="http://schemas.openxmlformats.org/officeDocument/2006/relationships/slide" Target="slide4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5.xml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slide" Target="slide8.xml"/><Relationship Id="rId4" Type="http://schemas.openxmlformats.org/officeDocument/2006/relationships/slide" Target="slide6.xml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slide" Target="slide9.xml"/><Relationship Id="rId4" Type="http://schemas.openxmlformats.org/officeDocument/2006/relationships/slide" Target="slide7.xml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slide" Target="slide10.xml"/><Relationship Id="rId4" Type="http://schemas.openxmlformats.org/officeDocument/2006/relationships/slide" Target="slide8.xml"/><Relationship Id="rId5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slide" Target="slide11.xml"/><Relationship Id="rId4" Type="http://schemas.openxmlformats.org/officeDocument/2006/relationships/slide" Target="slide9.xml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slide" Target="slide12.xml"/><Relationship Id="rId4" Type="http://schemas.openxmlformats.org/officeDocument/2006/relationships/slide" Target="slide10.xml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slide" Target="slide13.xml"/><Relationship Id="rId4" Type="http://schemas.openxmlformats.org/officeDocument/2006/relationships/slide" Target="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7eb2e6b715_1_0"/>
          <p:cNvSpPr txBox="1"/>
          <p:nvPr>
            <p:ph type="ctrTitle"/>
          </p:nvPr>
        </p:nvSpPr>
        <p:spPr>
          <a:xfrm>
            <a:off x="1524000" y="2098988"/>
            <a:ext cx="9144000" cy="2387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save File menggunakan format PPTX</a:t>
            </a:r>
            <a:endParaRPr/>
          </a:p>
        </p:txBody>
      </p:sp>
      <p:sp>
        <p:nvSpPr>
          <p:cNvPr id="85" name="Google Shape;85;g37eb2e6b715_1_0"/>
          <p:cNvSpPr txBox="1"/>
          <p:nvPr>
            <p:ph idx="1" type="subTitle"/>
          </p:nvPr>
        </p:nvSpPr>
        <p:spPr>
          <a:xfrm>
            <a:off x="1524000" y="2419266"/>
            <a:ext cx="9144000" cy="445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Bapak/ibu dosen setelah selesai membuat PPT</a:t>
            </a:r>
            <a:endParaRPr/>
          </a:p>
        </p:txBody>
      </p:sp>
      <p:sp>
        <p:nvSpPr>
          <p:cNvPr id="86" name="Google Shape;86;g37eb2e6b715_1_0"/>
          <p:cNvSpPr txBox="1"/>
          <p:nvPr>
            <p:ph idx="1" type="subTitle"/>
          </p:nvPr>
        </p:nvSpPr>
        <p:spPr>
          <a:xfrm>
            <a:off x="1524000" y="4925916"/>
            <a:ext cx="9144000" cy="445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Terimakasih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655462" y="2111652"/>
            <a:ext cx="54216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25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OPTIMALISASI &amp; OTOMASI</a:t>
            </a:r>
            <a:endParaRPr b="1" i="0" sz="5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692406" y="3572644"/>
            <a:ext cx="3318096" cy="369332"/>
          </a:xfrm>
          <a:prstGeom prst="rect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P132520004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3655461" y="851271"/>
            <a:ext cx="147668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MODUL KE</a:t>
            </a:r>
            <a:endParaRPr b="1"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3655461" y="952809"/>
            <a:ext cx="1476686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01</a:t>
            </a:r>
            <a:endParaRPr b="1" sz="66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95" name="Google Shape;95;p1"/>
          <p:cNvCxnSpPr/>
          <p:nvPr/>
        </p:nvCxnSpPr>
        <p:spPr>
          <a:xfrm>
            <a:off x="3746836" y="1927722"/>
            <a:ext cx="1124075" cy="0"/>
          </a:xfrm>
          <a:prstGeom prst="straightConnector1">
            <a:avLst/>
          </a:prstGeom>
          <a:noFill/>
          <a:ln cap="flat" cmpd="sng" w="571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6" name="Google Shape;96;p1"/>
          <p:cNvSpPr txBox="1"/>
          <p:nvPr/>
        </p:nvSpPr>
        <p:spPr>
          <a:xfrm>
            <a:off x="3600042" y="4239978"/>
            <a:ext cx="6543963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Teknik</a:t>
            </a:r>
            <a:endParaRPr b="1" sz="20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3600042" y="4879121"/>
            <a:ext cx="4794829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Program Studi S1 Teknik Mesin</a:t>
            </a:r>
            <a:endParaRPr b="1" sz="20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3600042" y="4039214"/>
            <a:ext cx="6543963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Fakultas</a:t>
            </a:r>
            <a:endParaRPr sz="15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3600042" y="4687935"/>
            <a:ext cx="6543963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Program Studi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3257550" y="3244334"/>
            <a:ext cx="65151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3600043" y="5711628"/>
            <a:ext cx="3156696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Dedik Romahadi, ST., M.Sc</a:t>
            </a:r>
            <a:endParaRPr b="1" sz="16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3600042" y="5510864"/>
            <a:ext cx="2986061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Nama Dosen</a:t>
            </a:r>
            <a:endParaRPr/>
          </a:p>
        </p:txBody>
      </p:sp>
      <p:sp>
        <p:nvSpPr>
          <p:cNvPr id="103" name="Google Shape;103;p1"/>
          <p:cNvSpPr txBox="1"/>
          <p:nvPr/>
        </p:nvSpPr>
        <p:spPr>
          <a:xfrm>
            <a:off x="7010502" y="5732920"/>
            <a:ext cx="3156695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-</a:t>
            </a:r>
            <a:endParaRPr/>
          </a:p>
        </p:txBody>
      </p:sp>
      <p:sp>
        <p:nvSpPr>
          <p:cNvPr id="104" name="Google Shape;104;p1"/>
          <p:cNvSpPr txBox="1"/>
          <p:nvPr/>
        </p:nvSpPr>
        <p:spPr>
          <a:xfrm>
            <a:off x="7010502" y="5532156"/>
            <a:ext cx="2986061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Nama Anggota</a:t>
            </a:r>
            <a:endParaRPr sz="15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">
            <a:hlinkClick action="ppaction://hlinkshowjump?jump=nextslide"/>
          </p:cNvPr>
          <p:cNvSpPr/>
          <p:nvPr/>
        </p:nvSpPr>
        <p:spPr>
          <a:xfrm>
            <a:off x="9996563" y="4628518"/>
            <a:ext cx="1404332" cy="352302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Pembuka</a:t>
            </a:r>
            <a:endParaRPr b="1" sz="1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6" name="Google Shape;106;p1">
            <a:hlinkClick action="ppaction://hlinksldjump" r:id="rId4"/>
          </p:cNvPr>
          <p:cNvSpPr/>
          <p:nvPr/>
        </p:nvSpPr>
        <p:spPr>
          <a:xfrm>
            <a:off x="9996563" y="5152413"/>
            <a:ext cx="1404332" cy="352302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Daftar Pustaka</a:t>
            </a:r>
            <a:endParaRPr/>
          </a:p>
        </p:txBody>
      </p:sp>
      <p:sp>
        <p:nvSpPr>
          <p:cNvPr id="107" name="Google Shape;107;p1"/>
          <p:cNvSpPr/>
          <p:nvPr/>
        </p:nvSpPr>
        <p:spPr>
          <a:xfrm>
            <a:off x="10010418" y="5689811"/>
            <a:ext cx="1404332" cy="352301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Akhiri Presentasi</a:t>
            </a:r>
            <a:endParaRPr b="1" sz="1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8" name="Google Shape;108;p1"/>
          <p:cNvSpPr txBox="1"/>
          <p:nvPr/>
        </p:nvSpPr>
        <p:spPr>
          <a:xfrm>
            <a:off x="9373362" y="1506807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Pengantar Time Series Data &amp; Analisis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4" name="Google Shape;114;p2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Pokok bahasan: </a:t>
            </a:r>
            <a:r>
              <a:rPr sz="1200"/>
              <a:t>akuisisi &amp; pemahaman data time series sensor industri, fondasi seluruh mata kuliah.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Sub-CPMK 1.1: </a:t>
            </a:r>
            <a:r>
              <a:rPr sz="1200"/>
              <a:t>mampu mempertimbangkan aspek ekonomi dalam desain sistem otomasi.</a:t>
            </a:r>
          </a:p>
          <a:p>
            <a:pPr>
              <a:spcAft>
                <a:spcPts val="500"/>
              </a:spcAft>
            </a:pPr>
            <a:r>
              <a:rPr b="1" sz="1200"/>
              <a:t>Sebelum </a:t>
            </a:r>
            <a:r>
              <a:rPr sz="1200"/>
              <a:t>prediksi kerusakan, optimasi jadwal, atau otomasi keputusan, data harus diakuisisi dengan benar.</a:t>
            </a:r>
          </a:p>
          <a:p>
            <a:pPr>
              <a:spcAft>
                <a:spcPts val="500"/>
              </a:spcAft>
            </a:pPr>
            <a:r>
              <a:rPr b="1" sz="1200"/>
              <a:t>Agenda: </a:t>
            </a:r>
            <a:r>
              <a:rPr sz="1200"/>
              <a:t>konsep dasar → komponen sinyal → statistik dasar → sampling &amp; Nyquist → analogi → aplikasi → Python.</a:t>
            </a:r>
          </a:p>
          <a:p>
            <a:pPr>
              <a:spcAft>
                <a:spcPts val="500"/>
              </a:spcAft>
            </a:pPr>
            <a:r>
              <a:rPr b="1" sz="1200"/>
              <a:t>Evaluasi: </a:t>
            </a:r>
            <a:r>
              <a:rPr sz="1200"/>
              <a:t>Tugas LMS 50 poin (10 PG + 10 komputasi easy + 5 komputasi hard) + Forum studi kasus.</a:t>
            </a:r>
          </a:p>
        </p:txBody>
      </p:sp>
      <p:sp>
        <p:nvSpPr>
          <p:cNvPr id="115" name="Google Shape;115;p2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6" name="Google Shape;116;p2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18" name="Google Shape;118;p2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19" name="Picture 118" descr="g5_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535" y="1825625"/>
            <a:ext cx="2916583" cy="38743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Definisi: </a:t>
            </a:r>
            <a:r>
              <a:rPr sz="1200"/>
              <a:t>urutan observasi terhadap indeks waktu, {xt} untuk t = 1..N; urutan adalah informasi.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Temporal dependency: </a:t>
            </a:r>
            <a:r>
              <a:rPr sz="1200"/>
              <a:t>xt ≈ f(xt−1, xt−2, ...); mengacak urutan menghancurkan makna.</a:t>
            </a:r>
          </a:p>
          <a:p>
            <a:pPr>
              <a:spcAft>
                <a:spcPts val="500"/>
              </a:spcAft>
            </a:pPr>
            <a:r>
              <a:rPr b="1" sz="1200"/>
              <a:t>Sumber data: </a:t>
            </a:r>
            <a:r>
              <a:rPr sz="1200"/>
              <a:t>akselerometer, termokopel, strain gauge, arus motor, tekanan; semuanya menghasilkan time series.</a:t>
            </a:r>
          </a:p>
          <a:p>
            <a:pPr>
              <a:spcAft>
                <a:spcPts val="500"/>
              </a:spcAft>
            </a:pPr>
            <a:r>
              <a:rPr b="1" sz="1200"/>
              <a:t>Sinyal periodik: </a:t>
            </a:r>
            <a:r>
              <a:rPr sz="1200"/>
              <a:t>x(t) = A·sin(2πft + φ), dasar FFT, deteksi anomali, dan prediksi.</a:t>
            </a:r>
          </a:p>
          <a:p>
            <a:pPr>
              <a:spcAft>
                <a:spcPts val="500"/>
              </a:spcAft>
            </a:pPr>
            <a:r>
              <a:rPr b="1" sz="1200"/>
              <a:t>Noise &amp; SNR: </a:t>
            </a:r>
            <a:r>
              <a:rPr sz="1200"/>
              <a:t>SNR = 10·log₁₀(Psinyal/Pnoise) menentukan pola terdeteksi atau tertutup derau.</a:t>
            </a:r>
          </a:p>
        </p:txBody>
      </p:sp>
      <p:sp>
        <p:nvSpPr>
          <p:cNvPr id="124" name="Google Shape;124;p3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Konsep Dasar Time Series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5" name="Google Shape;125;p3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26" name="Google Shape;126;p3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28" name="Google Shape;128;p3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29" name="Picture 128" descr="g1_sig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544325"/>
            <a:ext cx="3441945" cy="24369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Model aditif: </a:t>
            </a:r>
            <a:r>
              <a:rPr sz="1200"/>
              <a:t>yt = Tt + St + Ct + εt (tren + musiman + siklik + noise).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Tren: </a:t>
            </a:r>
            <a:r>
              <a:rPr sz="1200"/>
              <a:t>pergerakan jangka panjang, seperti aus bearing progresif; linear/eksponensial/logaritmik.</a:t>
            </a:r>
          </a:p>
          <a:p>
            <a:pPr>
              <a:spcAft>
                <a:spcPts val="500"/>
              </a:spcAft>
            </a:pPr>
            <a:r>
              <a:rPr b="1" sz="1200"/>
              <a:t>Musiman: </a:t>
            </a:r>
            <a:r>
              <a:rPr sz="1200"/>
              <a:t>periode tetap terkait kalender (shift harian, weekend, jadwal maintenance); St+s = St.</a:t>
            </a:r>
          </a:p>
          <a:p>
            <a:pPr>
              <a:spcAft>
                <a:spcPts val="500"/>
              </a:spcAft>
            </a:pPr>
            <a:r>
              <a:rPr b="1" sz="1200"/>
              <a:t>Siklik: </a:t>
            </a:r>
            <a:r>
              <a:rPr sz="1200"/>
              <a:t>berulang tanpa periode tetap (ekonomi, permintaan pasar), tidak terikat kalender.</a:t>
            </a:r>
          </a:p>
          <a:p>
            <a:pPr>
              <a:spcAft>
                <a:spcPts val="500"/>
              </a:spcAft>
            </a:pPr>
            <a:r>
              <a:rPr b="1" sz="1200"/>
              <a:t>Residual/noise: </a:t>
            </a:r>
            <a:r>
              <a:rPr sz="1200"/>
              <a:t>idealnya white noise εt ~ N(0, σ²); anomali nyata = residual besar.</a:t>
            </a:r>
          </a:p>
          <a:p>
            <a:pPr>
              <a:spcAft>
                <a:spcPts val="500"/>
              </a:spcAft>
            </a:pPr>
            <a:r>
              <a:rPr b="1" sz="1200"/>
              <a:t>Deteksi: </a:t>
            </a:r>
            <a:r>
              <a:rPr sz="1200"/>
              <a:t>regresi/moving average (tren), FFT/STL/ACF (musiman), analisis residual (noise).</a:t>
            </a:r>
          </a:p>
        </p:txBody>
      </p:sp>
      <p:sp>
        <p:nvSpPr>
          <p:cNvPr id="134" name="Google Shape;134;p4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Komponen Sinyal Time Series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4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36" name="Google Shape;136;p4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38" name="Google Shape;138;p4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39" name="Picture 138" descr="g2_decompo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4093" y="1825625"/>
            <a:ext cx="3277467" cy="38743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Mean (μ): </a:t>
            </a:r>
            <a:r>
              <a:rPr sz="1200"/>
              <a:t>sinyal AC ≈ 0; pergeserannya menandakan DC offset / drift sensor.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RMS: </a:t>
            </a:r>
            <a:r>
              <a:rPr sz="1200"/>
              <a:t>√((1/N)Σx²), energi efektif; basis klasifikasi severity ISO 10816.</a:t>
            </a:r>
          </a:p>
          <a:p>
            <a:pPr>
              <a:spcAft>
                <a:spcPts val="500"/>
              </a:spcAft>
            </a:pPr>
            <a:r>
              <a:rPr b="1" sz="1200"/>
              <a:t>Std (σ): </a:t>
            </a:r>
            <a:r>
              <a:rPr sz="1200"/>
              <a:t>sebaran terhadap mean; aturan 3σ untuk outlier; sinyal mean-nol → σ ≈ RMS.</a:t>
            </a:r>
          </a:p>
          <a:p>
            <a:pPr>
              <a:spcAft>
                <a:spcPts val="500"/>
              </a:spcAft>
            </a:pPr>
            <a:r>
              <a:rPr b="1" sz="1200"/>
              <a:t>Peak: </a:t>
            </a:r>
            <a:r>
              <a:rPr sz="1200"/>
              <a:t>lonjakan absolut tertinggi, yaitu stres mekanik maksimum.</a:t>
            </a:r>
          </a:p>
          <a:p>
            <a:pPr>
              <a:spcAft>
                <a:spcPts val="500"/>
              </a:spcAft>
            </a:pPr>
            <a:r>
              <a:rPr b="1" sz="1200"/>
              <a:t>Crest Factor: </a:t>
            </a:r>
            <a:r>
              <a:rPr sz="1200"/>
              <a:t>Peak/RMS; sinus murni ≈ 1,41; CF &gt; 4 = impulsif (spalling bearing).</a:t>
            </a:r>
          </a:p>
          <a:p>
            <a:pPr>
              <a:spcAft>
                <a:spcPts val="500"/>
              </a:spcAft>
            </a:pPr>
            <a:r>
              <a:rPr b="1" sz="1200"/>
              <a:t>Praktik: </a:t>
            </a:r>
            <a:r>
              <a:rPr sz="1200"/>
              <a:t>hitung per window bergerak (mis. 1 detik) → tren RMS bergulir = kurva kesehatan mesin.</a:t>
            </a:r>
          </a:p>
        </p:txBody>
      </p:sp>
      <p:sp>
        <p:nvSpPr>
          <p:cNvPr id="144" name="Google Shape;144;p5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2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Statistik Dasar: Mean, RMS, Std, Peak, Crest Factor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5" name="Google Shape;145;p5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46" name="Google Shape;146;p5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48" name="Google Shape;148;p5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9" name="Picture 148" descr="g4_rms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489690"/>
            <a:ext cx="3441945" cy="25462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Teorema: </a:t>
            </a:r>
            <a:r>
              <a:rPr sz="1200"/>
              <a:t>fs ≥ 2·fmaks agar sinyal dapat direkonstruksi tanpa distorsi.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Frekuensi Nyquist: </a:t>
            </a:r>
            <a:r>
              <a:rPr sz="1200"/>
              <a:t>fN = fs/2, yaitu batas frekuensi tertinggi yang dapat direpresentasikan.</a:t>
            </a:r>
          </a:p>
          <a:p>
            <a:pPr>
              <a:spcAft>
                <a:spcPts val="500"/>
              </a:spcAft>
            </a:pPr>
            <a:r>
              <a:rPr b="1" sz="1200"/>
              <a:t>Aliasing: </a:t>
            </a:r>
            <a:r>
              <a:rPr sz="1200"/>
              <a:t>sinyal di atas fN tampil palsu di bawah fN (falias = |f − k·fs|); cegah dengan filter analog low-pass.</a:t>
            </a:r>
          </a:p>
          <a:p>
            <a:pPr>
              <a:spcAft>
                <a:spcPts val="500"/>
              </a:spcAft>
            </a:pPr>
            <a:r>
              <a:rPr b="1" sz="1200"/>
              <a:t>Oversampling: </a:t>
            </a:r>
            <a:r>
              <a:rPr sz="1200"/>
              <a:t>praktik industri fs = 5–10× fmaks; trade-off storage &amp; processing (aspek ekonomi!).</a:t>
            </a:r>
          </a:p>
          <a:p>
            <a:pPr>
              <a:spcAft>
                <a:spcPts val="500"/>
              </a:spcAft>
            </a:pPr>
            <a:r>
              <a:rPr b="1" sz="1200"/>
              <a:t>Contoh: </a:t>
            </a:r>
            <a:r>
              <a:rPr sz="1200"/>
              <a:t>suhu 1–10 Hz; getaran mesin 10 kHz (ISO 10816); bearing high-speed 40–50 kHz.</a:t>
            </a:r>
          </a:p>
        </p:txBody>
      </p:sp>
      <p:sp>
        <p:nvSpPr>
          <p:cNvPr id="154" name="Google Shape;154;p6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Sampling &amp; Teorema Nyquist-Shannon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5" name="Google Shape;155;p6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56" name="Google Shape;156;p6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57" name="Google Shape;157;p6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58" name="Google Shape;158;p6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9" name="Picture 158" descr="g3_alias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320427"/>
            <a:ext cx="3441945" cy="28847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Burst kamera HP: </a:t>
            </a:r>
            <a:r>
              <a:rPr sz="1200"/>
              <a:t>fps = sampling rate; kepakan sayap burung ter-alias bila fps &lt; 2× frekuensi kepak.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Lalu lintas tol: </a:t>
            </a:r>
            <a:r>
              <a:rPr sz="1200"/>
              <a:t>pola harian/mingguan/tahunan + tren, yaitu semua komponen dalam satu deret.</a:t>
            </a:r>
          </a:p>
          <a:p>
            <a:pPr>
              <a:spcAft>
                <a:spcPts val="500"/>
              </a:spcAft>
            </a:pPr>
            <a:r>
              <a:rPr b="1" sz="1200"/>
              <a:t>Spotify loudness: </a:t>
            </a:r>
            <a:r>
              <a:rPr sz="1200"/>
              <a:t>normalisasi volume memakai RMS (target −14 LUFS), energi efektif, bukan puncak.</a:t>
            </a:r>
          </a:p>
          <a:p>
            <a:pPr>
              <a:spcAft>
                <a:spcPts val="500"/>
              </a:spcAft>
            </a:pPr>
            <a:r>
              <a:rPr b="1" sz="1200"/>
              <a:t>Vinyl vs MP3: </a:t>
            </a:r>
            <a:r>
              <a:rPr sz="1200"/>
              <a:t>CD 44,1 kHz = Nyquist untuk pendengaran ±20 kHz; beda rasa = kuantisasi.</a:t>
            </a:r>
          </a:p>
          <a:p>
            <a:pPr>
              <a:spcAft>
                <a:spcPts val="500"/>
              </a:spcAft>
            </a:pPr>
            <a:r>
              <a:rPr b="1" sz="1200"/>
              <a:t>EKG jantung: </a:t>
            </a:r>
            <a:r>
              <a:rPr sz="1200"/>
              <a:t>peak P-QRS-T tegas = crest factor tinggi; aritmia mengubah CF, mirip bearing spalling.</a:t>
            </a:r>
          </a:p>
          <a:p>
            <a:pPr>
              <a:spcAft>
                <a:spcPts val="500"/>
              </a:spcAft>
            </a:pPr>
            <a:r>
              <a:rPr b="1" sz="1200"/>
              <a:t>Cuaca BMKG: </a:t>
            </a:r>
            <a:r>
              <a:rPr sz="1200"/>
              <a:t>tiap fenomena punya characteristic frequency &amp; sampling rate sendiri.</a:t>
            </a:r>
          </a:p>
        </p:txBody>
      </p:sp>
      <p:sp>
        <p:nvSpPr>
          <p:cNvPr id="164" name="Google Shape;164;p7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Analogi Kehidupan Sehari-hari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5" name="Google Shape;165;p7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6" name="Google Shape;166;p7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7" name="Google Shape;167;p7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9" name="Picture 168" descr="g6_analog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5661" y="1825625"/>
            <a:ext cx="2614330" cy="38743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8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Vibration monitoring: </a:t>
            </a:r>
            <a:r>
              <a:rPr sz="1200"/>
              <a:t>akselerometer 10 kHz; RMS/Peak/CF per detik; tren RMS 7 hari naik → inspeksi.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Kontrol suhu proses: </a:t>
            </a:r>
            <a:r>
              <a:rPr sz="1200"/>
              <a:t>termokopel 1 Hz; rolling mean &amp; std 1 menit sebagai baseline alarm.</a:t>
            </a:r>
          </a:p>
          <a:p>
            <a:pPr>
              <a:spcAft>
                <a:spcPts val="500"/>
              </a:spcAft>
            </a:pPr>
            <a:r>
              <a:rPr b="1" sz="1200"/>
              <a:t>Power quality: </a:t>
            </a:r>
            <a:r>
              <a:rPr sz="1200"/>
              <a:t>arus/tegangan 25,6 kHz; THD &gt; 5% = motor cepat panas, efisiensi turun.</a:t>
            </a:r>
          </a:p>
          <a:p>
            <a:pPr>
              <a:spcAft>
                <a:spcPts val="500"/>
              </a:spcAft>
            </a:pPr>
            <a:r>
              <a:rPr b="1" sz="1200"/>
              <a:t>SCADA &amp; IoT: </a:t>
            </a:r>
            <a:r>
              <a:rPr sz="1200"/>
              <a:t>edge → feature → cloud; sampling tinggi di edge, hanya statistik dikirim.</a:t>
            </a:r>
          </a:p>
          <a:p>
            <a:pPr>
              <a:spcAft>
                <a:spcPts val="500"/>
              </a:spcAft>
            </a:pPr>
            <a:r>
              <a:rPr b="1" sz="1200"/>
              <a:t>Kesalahan umum: </a:t>
            </a:r>
            <a:r>
              <a:rPr sz="1200"/>
              <a:t>fs terlalu rendah (aliasing), tanpa anti-aliasing filter, time stamp tidak akurat, musiman diabaikan.</a:t>
            </a:r>
          </a:p>
        </p:txBody>
      </p:sp>
      <p:sp>
        <p:nvSpPr>
          <p:cNvPr id="174" name="Google Shape;174;p8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Aplikasi di Teknik Mesin &amp; Industri 4.0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5" name="Google Shape;175;p8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76" name="Google Shape;176;p8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78" name="Google Shape;178;p8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9" name="Picture 178" descr="g7_samplingb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491991"/>
            <a:ext cx="3441945" cy="254164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Environment: </a:t>
            </a:r>
            <a:r>
              <a:rPr sz="1200"/>
              <a:t>conda activate optoauto; paket numpy, pandas, matplotlib, scipy, statsmodels.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Cell 1: </a:t>
            </a:r>
            <a:r>
              <a:rPr sz="1200"/>
              <a:t>generate sinyal getaran sintetis 3 frekuensi (25/60/120 Hz) + noise; fs = 1 kHz, 2 detik.</a:t>
            </a:r>
          </a:p>
          <a:p>
            <a:pPr>
              <a:spcAft>
                <a:spcPts val="500"/>
              </a:spcAft>
            </a:pPr>
            <a:r>
              <a:rPr b="1" sz="1200"/>
              <a:t>Cell 2: </a:t>
            </a:r>
            <a:r>
              <a:rPr sz="1200"/>
              <a:t>demonstrasi aliasing, yaitu sampling 60/100/500 Hz atas sinyal 50 Hz.</a:t>
            </a:r>
          </a:p>
          <a:p>
            <a:pPr>
              <a:spcAft>
                <a:spcPts val="500"/>
              </a:spcAft>
            </a:pPr>
            <a:r>
              <a:rPr b="1" sz="1200"/>
              <a:t>Cell 3: </a:t>
            </a:r>
            <a:r>
              <a:rPr sz="1200"/>
              <a:t>lima statistik dasar: np.mean, RMS = np.sqrt(np.mean(x**2)), np.std, peak, CF.</a:t>
            </a:r>
          </a:p>
          <a:p>
            <a:pPr>
              <a:spcAft>
                <a:spcPts val="500"/>
              </a:spcAft>
            </a:pPr>
            <a:r>
              <a:rPr b="1" sz="1200"/>
              <a:t>Cell 4: </a:t>
            </a:r>
            <a:r>
              <a:rPr sz="1200"/>
              <a:t>dekomposisi visual deret harian 1 tahun: tren + musiman mingguan + noise.</a:t>
            </a:r>
          </a:p>
          <a:p>
            <a:pPr>
              <a:spcAft>
                <a:spcPts val="500"/>
              </a:spcAft>
            </a:pPr>
            <a:r>
              <a:rPr b="1" sz="1200"/>
              <a:t>Notebook: </a:t>
            </a:r>
            <a:r>
              <a:rPr sz="1200"/>
              <a:t>p1_pengantar_time_series.ipynb, kode lengkap di halaman modul LMS.</a:t>
            </a:r>
          </a:p>
        </p:txBody>
      </p:sp>
      <p:sp>
        <p:nvSpPr>
          <p:cNvPr id="184" name="Google Shape;184;p9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7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Implementasi Python di Jupyter Notebook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5" name="Google Shape;185;p9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86" name="Google Shape;186;p9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87" name="Google Shape;187;p9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88" name="Google Shape;188;p9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9" name="Picture 188" descr="g8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405470"/>
            <a:ext cx="3441945" cy="27146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Tugas LMS (50 poin): </a:t>
            </a:r>
            <a:r>
              <a:rPr sz="1200"/>
              <a:t>10 PG @1 + 10 komputasi easy @2 + 5 komputasi hard @4, validasi otomatis server.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Komputasi easy: </a:t>
            </a:r>
            <a:r>
              <a:rPr sz="1200"/>
              <a:t>mean, RMS, σ, peak, CF, fN, Δt, N sampel, RMS sinus A/√2, SNR dB.</a:t>
            </a:r>
          </a:p>
          <a:p>
            <a:pPr>
              <a:spcAft>
                <a:spcPts val="500"/>
              </a:spcAft>
            </a:pPr>
            <a:r>
              <a:rPr b="1" sz="1200"/>
              <a:t>Komputasi hard: </a:t>
            </a:r>
            <a:r>
              <a:rPr sz="1200"/>
              <a:t>RMS Parseval multi-frekuensi, demonstrasi aliasing + FFT, rolling RMS, periode via ACF, THD.</a:t>
            </a:r>
          </a:p>
          <a:p>
            <a:pPr>
              <a:spcAft>
                <a:spcPts val="500"/>
              </a:spcAft>
            </a:pPr>
            <a:r>
              <a:rPr b="1" sz="1200"/>
              <a:t>Forum Kasus Rendi: </a:t>
            </a:r>
            <a:r>
              <a:rPr sz="1200"/>
              <a:t>setup vibration monitoring 8 motor 11 kW; BPFI 121 Hz, gear mesh 1,5 kHz; DAQ maks 50 kHz.</a:t>
            </a:r>
          </a:p>
          <a:p>
            <a:pPr>
              <a:spcAft>
                <a:spcPts val="500"/>
              </a:spcAft>
            </a:pPr>
            <a:r>
              <a:rPr b="1" sz="1200"/>
              <a:t>Diskusi: </a:t>
            </a:r>
            <a:r>
              <a:rPr sz="1200"/>
              <a:t>(1) pilih sampling rate + alasan; (2) statistik apa disimpan &amp; window-nya; (3) alert rule-based ISO 10816 + persistence.</a:t>
            </a:r>
          </a:p>
          <a:p>
            <a:pPr>
              <a:spcAft>
                <a:spcPts val="500"/>
              </a:spcAft>
            </a:pPr>
            <a:r>
              <a:rPr b="1" sz="1200"/>
              <a:t>Minimal </a:t>
            </a:r>
            <a:r>
              <a:rPr sz="1200"/>
              <a:t>30 kata per jawaban forum; kerjakan sebelum deadline pada jadwal LMS.</a:t>
            </a:r>
          </a:p>
        </p:txBody>
      </p:sp>
      <p:sp>
        <p:nvSpPr>
          <p:cNvPr id="194" name="Google Shape;194;p10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Tugas &amp; Forum Diskusi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5" name="Google Shape;195;p10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96" name="Google Shape;196;p10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98" name="Google Shape;198;p10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99" name="Picture 198" descr="g9_scor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675630"/>
            <a:ext cx="3441945" cy="21743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"/>
          <p:cNvSpPr txBox="1"/>
          <p:nvPr>
            <p:ph type="title"/>
          </p:nvPr>
        </p:nvSpPr>
        <p:spPr>
          <a:xfrm>
            <a:off x="1791854" y="500062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DAFTAR PUSTAKA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4" name="Google Shape;204;p11"/>
          <p:cNvSpPr txBox="1"/>
          <p:nvPr>
            <p:ph idx="1" type="body"/>
          </p:nvPr>
        </p:nvSpPr>
        <p:spPr>
          <a:xfrm>
            <a:off x="1791854" y="1825625"/>
            <a:ext cx="956194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800"/>
              <a:buChar char="•"/>
            </a:pPr>
            <a:r>
              <a:rPr sz="1200"/>
              <a:t>Altaf, M., Akram, T., Khan, M. A., Iqbal, M., Ch, M. M. I., &amp; Hsu, C.-H. (2022). A new statistical features based approach for bearing fault diagnosis using vibration signals. Sensors, 22(5), 2012. https://doi.org/10.3390/s22052012</a:t>
            </a:r>
            <a:endParaRPr/>
          </a:p>
          <a:p>
            <a:pPr>
              <a:spcAft>
                <a:spcPts val="600"/>
              </a:spcAft>
            </a:pPr>
            <a:r>
              <a:rPr sz="1200"/>
              <a:t>Dudek, G. (2023). STD: A seasonal-trend-dispersion decomposition of time series. IEEE Transactions on Knowledge and Data Engineering, 35(10), 10339–10350. https://doi.org/10.1109/TKDE.2023.3268125</a:t>
            </a:r>
          </a:p>
          <a:p>
            <a:pPr>
              <a:spcAft>
                <a:spcPts val="600"/>
              </a:spcAft>
            </a:pPr>
            <a:r>
              <a:rPr sz="1200"/>
              <a:t>Hyndman, R. J., &amp; Athanasopoulos, G. (2021). Forecasting: Principles and Practice (3rd ed.). OTexts. https://otexts.com/fpp3/</a:t>
            </a:r>
          </a:p>
          <a:p>
            <a:pPr>
              <a:spcAft>
                <a:spcPts val="600"/>
              </a:spcAft>
            </a:pPr>
            <a:r>
              <a:rPr sz="1200"/>
              <a:t>Romanssini, M., de Aguirre, P. C. C., Compassi-Severo, L., &amp; Girardi, A. G. (2023). A review on vibration monitoring techniques for predictive maintenance of rotating machinery. Eng, 4(3), 1797–1817. https://doi.org/10.3390/eng4030102</a:t>
            </a:r>
          </a:p>
          <a:p>
            <a:pPr>
              <a:spcAft>
                <a:spcPts val="600"/>
              </a:spcAft>
            </a:pPr>
            <a:r>
              <a:rPr sz="1200"/>
              <a:t>Tiboni, M., Remino, C., Bussola, R., &amp; Amici, C. (2022). A review on vibration-based condition monitoring of rotating machinery. Applied Sciences, 12(3), 972. https://doi.org/10.3390/app12030972</a:t>
            </a:r>
          </a:p>
          <a:p>
            <a:pPr>
              <a:spcAft>
                <a:spcPts val="600"/>
              </a:spcAft>
            </a:pPr>
            <a:r>
              <a:rPr sz="1200"/>
              <a:t>Ul Hassan, I., Panduru, K., &amp; Walsh, J. (2024). An in-depth study of vibration sensors for condition monitoring. Sensors, 24(3), 740. https://doi.org/10.3390/s24030740</a:t>
            </a:r>
          </a:p>
          <a:p>
            <a:pPr>
              <a:spcAft>
                <a:spcPts val="600"/>
              </a:spcAft>
            </a:pPr>
            <a:r>
              <a:rPr sz="1200"/>
              <a:t>Zeng, A., Chen, M., Zhang, L., &amp; Xu, Q. (2023). Are transformers effective for time series forecasting? Proceedings of the AAAI Conference on Artificial Intelligence, 37(9), 11121–11128. https://doi.org/10.1609/aaai.v37i9.26317</a:t>
            </a:r>
          </a:p>
        </p:txBody>
      </p:sp>
      <p:sp>
        <p:nvSpPr>
          <p:cNvPr id="205" name="Google Shape;205;p11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06" name="Google Shape;206;p11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07" name="Google Shape;207;p11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2"/>
          <p:cNvSpPr txBox="1"/>
          <p:nvPr/>
        </p:nvSpPr>
        <p:spPr>
          <a:xfrm>
            <a:off x="3932553" y="2355793"/>
            <a:ext cx="5421746" cy="1893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7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TERIMA</a:t>
            </a:r>
            <a:endParaRPr/>
          </a:p>
          <a:p>
            <a:pPr indent="0" lvl="0" marL="0" marR="0" rtl="0" algn="l">
              <a:lnSpc>
                <a:spcPct val="97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KASIH</a:t>
            </a:r>
            <a:endParaRPr b="1" sz="72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3" name="Google Shape;213;p12"/>
          <p:cNvSpPr txBox="1"/>
          <p:nvPr/>
        </p:nvSpPr>
        <p:spPr>
          <a:xfrm>
            <a:off x="3932553" y="4249068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sp>
        <p:nvSpPr>
          <p:cNvPr id="214" name="Google Shape;214;p12"/>
          <p:cNvSpPr/>
          <p:nvPr/>
        </p:nvSpPr>
        <p:spPr>
          <a:xfrm>
            <a:off x="10010418" y="5689811"/>
            <a:ext cx="1404332" cy="352301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Akhiri Presentasi</a:t>
            </a:r>
            <a:endParaRPr b="1" sz="1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2025-08-22T02:44:46Z</dcterms:created>
  <dc:creator>PBA EL 1</dc:creator>
</cp:coreProperties>
</file>