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embeddedFontLst>
    <p:embeddedFont>
      <p:font typeface="Play"/>
      <p:regular r:id="rId18"/>
      <p:bold r:id="rId19"/>
    </p:embeddedFont>
    <p:embeddedFont>
      <p:font typeface="Open Sans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leqN3Ow1ERXcSZncxqJLSgOM7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font" Target="fonts/Play-regular.fntdata"/><Relationship Id="rId19" Type="http://schemas.openxmlformats.org/officeDocument/2006/relationships/font" Target="fonts/Play-bold.fntdata"/><Relationship Id="rId20" Type="http://schemas.openxmlformats.org/officeDocument/2006/relationships/font" Target="fonts/OpenSans-bold.fntdata"/><Relationship Id="rId21" Type="http://schemas.openxmlformats.org/officeDocument/2006/relationships/font" Target="fonts/OpenSans-boldItalic.fntdata"/><Relationship Id="rId2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eb2e6b71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eb2e6b71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slide" Target="slide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4.xml"/><Relationship Id="rId4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slide" Target="slide13.xml"/><Relationship Id="rId4" Type="http://schemas.openxmlformats.org/officeDocument/2006/relationships/slide" Target="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eb2e6b715_1_0"/>
          <p:cNvSpPr txBox="1"/>
          <p:nvPr>
            <p:ph type="ctrTitle"/>
          </p:nvPr>
        </p:nvSpPr>
        <p:spPr>
          <a:xfrm>
            <a:off x="1524000" y="2098988"/>
            <a:ext cx="9144000" cy="2387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save File menggunakan format PPTX</a:t>
            </a:r>
            <a:endParaRPr/>
          </a:p>
        </p:txBody>
      </p:sp>
      <p:sp>
        <p:nvSpPr>
          <p:cNvPr id="85" name="Google Shape;85;g37eb2e6b715_1_0"/>
          <p:cNvSpPr txBox="1"/>
          <p:nvPr>
            <p:ph idx="1" type="subTitle"/>
          </p:nvPr>
        </p:nvSpPr>
        <p:spPr>
          <a:xfrm>
            <a:off x="1524000" y="2419266"/>
            <a:ext cx="9144000" cy="44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Bapak/ibu dosen setelah selesai membuat PPT</a:t>
            </a:r>
            <a:endParaRPr/>
          </a:p>
        </p:txBody>
      </p:sp>
      <p:sp>
        <p:nvSpPr>
          <p:cNvPr id="86" name="Google Shape;86;g37eb2e6b715_1_0"/>
          <p:cNvSpPr txBox="1"/>
          <p:nvPr>
            <p:ph idx="1" type="subTitle"/>
          </p:nvPr>
        </p:nvSpPr>
        <p:spPr>
          <a:xfrm>
            <a:off x="1524000" y="4925916"/>
            <a:ext cx="9144000" cy="44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Terimakasih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/>
        </p:nvSpPr>
        <p:spPr>
          <a:xfrm>
            <a:off x="3655462" y="2111652"/>
            <a:ext cx="5421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2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OPTIMALISASI &amp; OTOMASI</a:t>
            </a:r>
            <a:endParaRPr b="1" i="0" sz="54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692406" y="3422644"/>
            <a:ext cx="3318096" cy="369332"/>
          </a:xfrm>
          <a:prstGeom prst="rect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Kode Mata Kuliah (kode MK)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655461" y="851271"/>
            <a:ext cx="147668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MODUL KE</a:t>
            </a:r>
            <a:endParaRPr b="1" sz="14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655461" y="952809"/>
            <a:ext cx="1476686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  <a:endParaRPr b="1" sz="6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95" name="Google Shape;95;p1"/>
          <p:cNvCxnSpPr/>
          <p:nvPr/>
        </p:nvCxnSpPr>
        <p:spPr>
          <a:xfrm>
            <a:off x="3746836" y="1927722"/>
            <a:ext cx="1124075" cy="0"/>
          </a:xfrm>
          <a:prstGeom prst="straightConnector1">
            <a:avLst/>
          </a:prstGeom>
          <a:noFill/>
          <a:ln cap="flat" cmpd="sng" w="5715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"/>
          <p:cNvSpPr txBox="1"/>
          <p:nvPr/>
        </p:nvSpPr>
        <p:spPr>
          <a:xfrm>
            <a:off x="3600042" y="4239978"/>
            <a:ext cx="654396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Teknik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3600042" y="4879121"/>
            <a:ext cx="479482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Program Studi S1 Teknik Mesin</a:t>
            </a:r>
            <a:endParaRPr b="1" sz="20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600042" y="4039214"/>
            <a:ext cx="654396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Fakultas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600042" y="4687935"/>
            <a:ext cx="6543963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Program Studi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3257550" y="3244334"/>
            <a:ext cx="65151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3600043" y="5711628"/>
            <a:ext cx="315669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Dedik Romahadi, ST., M.Sc</a:t>
            </a:r>
            <a:endParaRPr b="1" sz="16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3600042" y="5510864"/>
            <a:ext cx="298606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Nama Dosen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7010502" y="5732920"/>
            <a:ext cx="31566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—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7010502" y="5532156"/>
            <a:ext cx="2986061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Nama Anggota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>
            <a:hlinkClick action="ppaction://hlinkshowjump?jump=nextslide"/>
          </p:cNvPr>
          <p:cNvSpPr/>
          <p:nvPr/>
        </p:nvSpPr>
        <p:spPr>
          <a:xfrm>
            <a:off x="9996563" y="4628518"/>
            <a:ext cx="1404332" cy="35230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Pembuka</a:t>
            </a:r>
            <a:endParaRPr b="1"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6" name="Google Shape;106;p1">
            <a:hlinkClick action="ppaction://hlinksldjump" r:id="rId4"/>
          </p:cNvPr>
          <p:cNvSpPr/>
          <p:nvPr/>
        </p:nvSpPr>
        <p:spPr>
          <a:xfrm>
            <a:off x="9996563" y="5152413"/>
            <a:ext cx="1404332" cy="352302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Daftar Pustaka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10010418" y="5689811"/>
            <a:ext cx="1404332" cy="352301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Akhiri Presentasi</a:t>
            </a:r>
            <a:endParaRPr b="1"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9373362" y="1506807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Pengantar Time Series Data &amp; Analisis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Pokok bahasan: </a:t>
            </a:r>
            <a:r>
              <a:rPr sz="1400"/>
              <a:t>akuisisi &amp; pemahaman data time series sensor industri — fondasi seluruh mata kuliah.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Sub-CPMK 1.3: </a:t>
            </a:r>
            <a:r>
              <a:rPr sz="1400"/>
              <a:t>mampu mempertimbangkan aspek ekonomi dalam desain sistem otomasi.</a:t>
            </a:r>
          </a:p>
          <a:p>
            <a:pPr>
              <a:spcAft>
                <a:spcPts val="600"/>
              </a:spcAft>
            </a:pPr>
            <a:r>
              <a:rPr b="1" sz="1400"/>
              <a:t>Sebelum </a:t>
            </a:r>
            <a:r>
              <a:rPr sz="1400"/>
              <a:t>prediksi kerusakan, optimasi jadwal, atau otomasi keputusan — data harus diakuisisi dengan benar.</a:t>
            </a:r>
          </a:p>
          <a:p>
            <a:pPr>
              <a:spcAft>
                <a:spcPts val="600"/>
              </a:spcAft>
            </a:pPr>
            <a:r>
              <a:rPr b="1" sz="1400"/>
              <a:t>Agenda: </a:t>
            </a:r>
            <a:r>
              <a:rPr sz="1400"/>
              <a:t>konsep dasar → komponen sinyal → statistik dasar → sampling &amp; Nyquist → analogi → aplikasi → Python.</a:t>
            </a:r>
          </a:p>
          <a:p>
            <a:pPr>
              <a:spcAft>
                <a:spcPts val="600"/>
              </a:spcAft>
            </a:pPr>
            <a:r>
              <a:rPr b="1" sz="1400"/>
              <a:t>Evaluasi: </a:t>
            </a:r>
            <a:r>
              <a:rPr sz="1400"/>
              <a:t>Tugas LMS 50 poin (10 PG + 10 komputasi easy + 5 komputasi hard) + Forum studi kasus.</a:t>
            </a:r>
          </a:p>
        </p:txBody>
      </p:sp>
      <p:sp>
        <p:nvSpPr>
          <p:cNvPr id="115" name="Google Shape;115;p2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6" name="Google Shape;116;p2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18" name="Google Shape;118;p2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Definisi: </a:t>
            </a:r>
            <a:r>
              <a:rPr sz="1400"/>
              <a:t>urutan observasi terhadap indeks waktu, {xt} untuk t = 1..N — urutan adalah informasi.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Temporal dependency: </a:t>
            </a:r>
            <a:r>
              <a:rPr sz="1400"/>
              <a:t>xt ≈ f(xt−1, xt−2, ...) — mengacak urutan menghancurkan makna.</a:t>
            </a:r>
          </a:p>
          <a:p>
            <a:pPr>
              <a:spcAft>
                <a:spcPts val="600"/>
              </a:spcAft>
            </a:pPr>
            <a:r>
              <a:rPr b="1" sz="1400"/>
              <a:t>Sumber data: </a:t>
            </a:r>
            <a:r>
              <a:rPr sz="1400"/>
              <a:t>akselerometer, termokopel, strain gauge, arus motor, tekanan — semua menghasilkan time series.</a:t>
            </a:r>
          </a:p>
          <a:p>
            <a:pPr>
              <a:spcAft>
                <a:spcPts val="600"/>
              </a:spcAft>
            </a:pPr>
            <a:r>
              <a:rPr b="1" sz="1400"/>
              <a:t>Sinyal periodik: </a:t>
            </a:r>
            <a:r>
              <a:rPr sz="1400"/>
              <a:t>x(t) = A·sin(2πft + φ) — dasar FFT, deteksi anomali, dan prediksi.</a:t>
            </a:r>
          </a:p>
          <a:p>
            <a:pPr>
              <a:spcAft>
                <a:spcPts val="600"/>
              </a:spcAft>
            </a:pPr>
            <a:r>
              <a:rPr b="1" sz="1400"/>
              <a:t>Noise &amp; SNR: </a:t>
            </a:r>
            <a:r>
              <a:rPr sz="1400"/>
              <a:t>SNR = 10·log₁₀(Psinyal/Pnoise) menentukan pola terdeteksi atau tertutup derau.</a:t>
            </a:r>
          </a:p>
        </p:txBody>
      </p:sp>
      <p:sp>
        <p:nvSpPr>
          <p:cNvPr id="124" name="Google Shape;124;p3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Konsep Dasar Time Series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3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6" name="Google Shape;126;p3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28" name="Google Shape;128;p3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Model aditif: </a:t>
            </a:r>
            <a:r>
              <a:rPr sz="1400"/>
              <a:t>yt = Tt + St + Ct + εt (tren + musiman + siklik + noise).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Tren: </a:t>
            </a:r>
            <a:r>
              <a:rPr sz="1400"/>
              <a:t>pergerakan jangka panjang — aus bearing progresif; linear/eksponensial/logaritmik.</a:t>
            </a:r>
          </a:p>
          <a:p>
            <a:pPr>
              <a:spcAft>
                <a:spcPts val="600"/>
              </a:spcAft>
            </a:pPr>
            <a:r>
              <a:rPr b="1" sz="1400"/>
              <a:t>Musiman: </a:t>
            </a:r>
            <a:r>
              <a:rPr sz="1400"/>
              <a:t>periode tetap terkait kalender (shift harian, weekend, jadwal maintenance); St+s = St.</a:t>
            </a:r>
          </a:p>
          <a:p>
            <a:pPr>
              <a:spcAft>
                <a:spcPts val="600"/>
              </a:spcAft>
            </a:pPr>
            <a:r>
              <a:rPr b="1" sz="1400"/>
              <a:t>Siklik: </a:t>
            </a:r>
            <a:r>
              <a:rPr sz="1400"/>
              <a:t>berulang tanpa periode tetap (ekonomi, permintaan pasar) — tidak terikat kalender.</a:t>
            </a:r>
          </a:p>
          <a:p>
            <a:pPr>
              <a:spcAft>
                <a:spcPts val="600"/>
              </a:spcAft>
            </a:pPr>
            <a:r>
              <a:rPr b="1" sz="1400"/>
              <a:t>Residual/noise: </a:t>
            </a:r>
            <a:r>
              <a:rPr sz="1400"/>
              <a:t>idealnya white noise εt ~ N(0, σ²); anomali nyata = residual besar.</a:t>
            </a:r>
          </a:p>
          <a:p>
            <a:pPr>
              <a:spcAft>
                <a:spcPts val="600"/>
              </a:spcAft>
            </a:pPr>
            <a:r>
              <a:rPr b="1" sz="1400"/>
              <a:t>Deteksi: </a:t>
            </a:r>
            <a:r>
              <a:rPr sz="1400"/>
              <a:t>regresi/moving average (tren), FFT/STL/ACF (musiman), analisis residual (noise).</a:t>
            </a:r>
          </a:p>
        </p:txBody>
      </p:sp>
      <p:sp>
        <p:nvSpPr>
          <p:cNvPr id="134" name="Google Shape;134;p4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Komponen Sinyal Time Series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4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6" name="Google Shape;136;p4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37" name="Google Shape;137;p4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38" name="Google Shape;138;p4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Mean (μ): </a:t>
            </a:r>
            <a:r>
              <a:rPr sz="1400"/>
              <a:t>sinyal AC ≈ 0 — pergeserannya menandakan DC offset / drift sensor.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RMS: </a:t>
            </a:r>
            <a:r>
              <a:rPr sz="1400"/>
              <a:t>√((1/N)Σx²) — energi efektif; basis klasifikasi severity ISO 10816.</a:t>
            </a:r>
          </a:p>
          <a:p>
            <a:pPr>
              <a:spcAft>
                <a:spcPts val="600"/>
              </a:spcAft>
            </a:pPr>
            <a:r>
              <a:rPr b="1" sz="1400"/>
              <a:t>Std (σ): </a:t>
            </a:r>
            <a:r>
              <a:rPr sz="1400"/>
              <a:t>sebaran terhadap mean; aturan 3σ untuk outlier; sinyal mean-nol → σ ≈ RMS.</a:t>
            </a:r>
          </a:p>
          <a:p>
            <a:pPr>
              <a:spcAft>
                <a:spcPts val="600"/>
              </a:spcAft>
            </a:pPr>
            <a:r>
              <a:rPr b="1" sz="1400"/>
              <a:t>Peak: </a:t>
            </a:r>
            <a:r>
              <a:rPr sz="1400"/>
              <a:t>lonjakan absolut tertinggi — stres mekanik maksimum.</a:t>
            </a:r>
          </a:p>
          <a:p>
            <a:pPr>
              <a:spcAft>
                <a:spcPts val="600"/>
              </a:spcAft>
            </a:pPr>
            <a:r>
              <a:rPr b="1" sz="1400"/>
              <a:t>Crest Factor: </a:t>
            </a:r>
            <a:r>
              <a:rPr sz="1400"/>
              <a:t>Peak/RMS; sinus murni ≈ 1,41; CF &gt; 4 = impulsif (spalling bearing).</a:t>
            </a:r>
          </a:p>
          <a:p>
            <a:pPr>
              <a:spcAft>
                <a:spcPts val="600"/>
              </a:spcAft>
            </a:pPr>
            <a:r>
              <a:rPr b="1" sz="1400"/>
              <a:t>Praktik: </a:t>
            </a:r>
            <a:r>
              <a:rPr sz="1400"/>
              <a:t>hitung per window bergerak (mis. 1 detik) → tren RMS bergulir = kurva kesehatan mesin.</a:t>
            </a:r>
          </a:p>
        </p:txBody>
      </p:sp>
      <p:sp>
        <p:nvSpPr>
          <p:cNvPr id="144" name="Google Shape;144;p5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Statistik Dasar: Mean, RMS, Std, Peak, Crest Factor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5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6" name="Google Shape;146;p5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48" name="Google Shape;148;p5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Teorema: </a:t>
            </a:r>
            <a:r>
              <a:rPr sz="1400"/>
              <a:t>fs ≥ 2·fmaks agar sinyal dapat direkonstruksi tanpa distorsi.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Frekuensi Nyquist: </a:t>
            </a:r>
            <a:r>
              <a:rPr sz="1400"/>
              <a:t>fN = fs/2 — batas frekuensi tertinggi yang dapat direpresentasikan.</a:t>
            </a:r>
          </a:p>
          <a:p>
            <a:pPr>
              <a:spcAft>
                <a:spcPts val="600"/>
              </a:spcAft>
            </a:pPr>
            <a:r>
              <a:rPr b="1" sz="1400"/>
              <a:t>Aliasing: </a:t>
            </a:r>
            <a:r>
              <a:rPr sz="1400"/>
              <a:t>sinyal di atas fN tampil palsu di bawah fN (falias = |f − k·fs|) — cegah dengan filter analog low-pass.</a:t>
            </a:r>
          </a:p>
          <a:p>
            <a:pPr>
              <a:spcAft>
                <a:spcPts val="600"/>
              </a:spcAft>
            </a:pPr>
            <a:r>
              <a:rPr b="1" sz="1400"/>
              <a:t>Oversampling: </a:t>
            </a:r>
            <a:r>
              <a:rPr sz="1400"/>
              <a:t>praktik industri fs = 5–10× fmaks; trade-off storage &amp; processing (aspek ekonomi!).</a:t>
            </a:r>
          </a:p>
          <a:p>
            <a:pPr>
              <a:spcAft>
                <a:spcPts val="600"/>
              </a:spcAft>
            </a:pPr>
            <a:r>
              <a:rPr b="1" sz="1400"/>
              <a:t>Contoh: </a:t>
            </a:r>
            <a:r>
              <a:rPr sz="1400"/>
              <a:t>suhu 1–10 Hz; getaran mesin 10 kHz (ISO 10816); bearing high-speed 40–50 kHz.</a:t>
            </a:r>
          </a:p>
        </p:txBody>
      </p:sp>
      <p:sp>
        <p:nvSpPr>
          <p:cNvPr id="154" name="Google Shape;154;p6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Sampling &amp; Teorema Nyquist-Shannon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6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6" name="Google Shape;156;p6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58" name="Google Shape;158;p6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Burst kamera HP: </a:t>
            </a:r>
            <a:r>
              <a:rPr sz="1400"/>
              <a:t>fps = sampling rate; kepakan sayap burung ter-alias bila fps &lt; 2× frekuensi kepak.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Lalu lintas tol: </a:t>
            </a:r>
            <a:r>
              <a:rPr sz="1400"/>
              <a:t>pola harian/mingguan/tahunan + tren — semua komponen dalam satu deret.</a:t>
            </a:r>
          </a:p>
          <a:p>
            <a:pPr>
              <a:spcAft>
                <a:spcPts val="600"/>
              </a:spcAft>
            </a:pPr>
            <a:r>
              <a:rPr b="1" sz="1400"/>
              <a:t>Spotify loudness: </a:t>
            </a:r>
            <a:r>
              <a:rPr sz="1400"/>
              <a:t>normalisasi volume memakai RMS (target −14 LUFS) — energi efektif, bukan puncak.</a:t>
            </a:r>
          </a:p>
          <a:p>
            <a:pPr>
              <a:spcAft>
                <a:spcPts val="600"/>
              </a:spcAft>
            </a:pPr>
            <a:r>
              <a:rPr b="1" sz="1400"/>
              <a:t>Vinyl vs MP3: </a:t>
            </a:r>
            <a:r>
              <a:rPr sz="1400"/>
              <a:t>CD 44,1 kHz = Nyquist untuk pendengaran ±20 kHz; beda rasa = kuantisasi.</a:t>
            </a:r>
          </a:p>
          <a:p>
            <a:pPr>
              <a:spcAft>
                <a:spcPts val="600"/>
              </a:spcAft>
            </a:pPr>
            <a:r>
              <a:rPr b="1" sz="1400"/>
              <a:t>EKG jantung: </a:t>
            </a:r>
            <a:r>
              <a:rPr sz="1400"/>
              <a:t>peak P-QRS-T tegas = crest factor tinggi; aritmia mengubah CF — mirip bearing spalling.</a:t>
            </a:r>
          </a:p>
          <a:p>
            <a:pPr>
              <a:spcAft>
                <a:spcPts val="600"/>
              </a:spcAft>
            </a:pPr>
            <a:r>
              <a:rPr b="1" sz="1400"/>
              <a:t>Cuaca BMKG: </a:t>
            </a:r>
            <a:r>
              <a:rPr sz="1400"/>
              <a:t>tiap fenomena punya characteristic frequency &amp; sampling rate sendiri.</a:t>
            </a:r>
          </a:p>
        </p:txBody>
      </p:sp>
      <p:sp>
        <p:nvSpPr>
          <p:cNvPr id="164" name="Google Shape;164;p7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Analogi Kehidupan Sehari-hari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7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6" name="Google Shape;166;p7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68" name="Google Shape;168;p7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Vibration monitoring: </a:t>
            </a:r>
            <a:r>
              <a:rPr sz="1400"/>
              <a:t>akselerometer 10 kHz; RMS/Peak/CF per detik; tren RMS 7 hari naik → inspeksi.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Kontrol suhu proses: </a:t>
            </a:r>
            <a:r>
              <a:rPr sz="1400"/>
              <a:t>termokopel 1 Hz; rolling mean &amp; std 1 menit sebagai baseline alarm.</a:t>
            </a:r>
          </a:p>
          <a:p>
            <a:pPr>
              <a:spcAft>
                <a:spcPts val="600"/>
              </a:spcAft>
            </a:pPr>
            <a:r>
              <a:rPr b="1" sz="1400"/>
              <a:t>Power quality: </a:t>
            </a:r>
            <a:r>
              <a:rPr sz="1400"/>
              <a:t>arus/tegangan 25,6 kHz; THD &gt; 5% = motor cepat panas, efisiensi turun.</a:t>
            </a:r>
          </a:p>
          <a:p>
            <a:pPr>
              <a:spcAft>
                <a:spcPts val="600"/>
              </a:spcAft>
            </a:pPr>
            <a:r>
              <a:rPr b="1" sz="1400"/>
              <a:t>SCADA &amp; IoT: </a:t>
            </a:r>
            <a:r>
              <a:rPr sz="1400"/>
              <a:t>edge → feature → cloud; sampling tinggi di edge, hanya statistik dikirim.</a:t>
            </a:r>
          </a:p>
          <a:p>
            <a:pPr>
              <a:spcAft>
                <a:spcPts val="600"/>
              </a:spcAft>
            </a:pPr>
            <a:r>
              <a:rPr b="1" sz="1400"/>
              <a:t>Kesalahan umum: </a:t>
            </a:r>
            <a:r>
              <a:rPr sz="1400"/>
              <a:t>fs terlalu rendah (aliasing), tanpa anti-aliasing filter, time stamp tidak akurat, musiman diabaikan.</a:t>
            </a:r>
          </a:p>
        </p:txBody>
      </p:sp>
      <p:sp>
        <p:nvSpPr>
          <p:cNvPr id="174" name="Google Shape;174;p8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Aplikasi di Teknik Mesin &amp; Industri 4.0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8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6" name="Google Shape;176;p8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78" name="Google Shape;178;p8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Environment: </a:t>
            </a:r>
            <a:r>
              <a:rPr sz="1400"/>
              <a:t>conda activate optoauto — numpy, pandas, matplotlib, scipy, statsmodels.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Cell 1: </a:t>
            </a:r>
            <a:r>
              <a:rPr sz="1400"/>
              <a:t>generate sinyal getaran sintetis 3 frekuensi (25/60/120 Hz) + noise; fs = 1 kHz, 2 detik.</a:t>
            </a:r>
          </a:p>
          <a:p>
            <a:pPr>
              <a:spcAft>
                <a:spcPts val="600"/>
              </a:spcAft>
            </a:pPr>
            <a:r>
              <a:rPr b="1" sz="1400"/>
              <a:t>Cell 2: </a:t>
            </a:r>
            <a:r>
              <a:rPr sz="1400"/>
              <a:t>demonstrasi aliasing — sampling 60/100/500 Hz atas sinyal 50 Hz.</a:t>
            </a:r>
          </a:p>
          <a:p>
            <a:pPr>
              <a:spcAft>
                <a:spcPts val="600"/>
              </a:spcAft>
            </a:pPr>
            <a:r>
              <a:rPr b="1" sz="1400"/>
              <a:t>Cell 3: </a:t>
            </a:r>
            <a:r>
              <a:rPr sz="1400"/>
              <a:t>lima statistik dasar: np.mean, RMS = np.sqrt(np.mean(x**2)), np.std, peak, CF.</a:t>
            </a:r>
          </a:p>
          <a:p>
            <a:pPr>
              <a:spcAft>
                <a:spcPts val="600"/>
              </a:spcAft>
            </a:pPr>
            <a:r>
              <a:rPr b="1" sz="1400"/>
              <a:t>Cell 4: </a:t>
            </a:r>
            <a:r>
              <a:rPr sz="1400"/>
              <a:t>dekomposisi visual deret harian 1 tahun: tren + musiman mingguan + noise.</a:t>
            </a:r>
          </a:p>
          <a:p>
            <a:pPr>
              <a:spcAft>
                <a:spcPts val="600"/>
              </a:spcAft>
            </a:pPr>
            <a:r>
              <a:rPr b="1" sz="1400"/>
              <a:t>Notebook: </a:t>
            </a:r>
            <a:r>
              <a:rPr sz="1400"/>
              <a:t>p1_pengantar_time_series.ipynb — kode lengkap di halaman modul LMS.</a:t>
            </a:r>
          </a:p>
        </p:txBody>
      </p:sp>
      <p:sp>
        <p:nvSpPr>
          <p:cNvPr id="184" name="Google Shape;184;p9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Implementasi Python di Jupyter Notebook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5" name="Google Shape;185;p9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6" name="Google Shape;186;p9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87" name="Google Shape;187;p9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88" name="Google Shape;188;p9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b="1" sz="1400"/>
              <a:t>Tugas LMS (50 poin): </a:t>
            </a:r>
            <a:r>
              <a:rPr sz="1400"/>
              <a:t>10 PG @1 + 10 komputasi easy @2 + 5 komputasi hard @4 — validasi otomatis server.</a:t>
            </a:r>
            <a:endParaRPr/>
          </a:p>
          <a:p>
            <a:pPr>
              <a:spcAft>
                <a:spcPts val="600"/>
              </a:spcAft>
            </a:pPr>
            <a:r>
              <a:rPr b="1" sz="1400"/>
              <a:t>Komputasi easy: </a:t>
            </a:r>
            <a:r>
              <a:rPr sz="1400"/>
              <a:t>mean, RMS, σ, peak, CF, fN, Δt, N sampel, RMS sinus A/√2, SNR dB.</a:t>
            </a:r>
          </a:p>
          <a:p>
            <a:pPr>
              <a:spcAft>
                <a:spcPts val="600"/>
              </a:spcAft>
            </a:pPr>
            <a:r>
              <a:rPr b="1" sz="1400"/>
              <a:t>Komputasi hard: </a:t>
            </a:r>
            <a:r>
              <a:rPr sz="1400"/>
              <a:t>RMS Parseval multi-frekuensi, demonstrasi aliasing + FFT, rolling RMS, periode via ACF, THD.</a:t>
            </a:r>
          </a:p>
          <a:p>
            <a:pPr>
              <a:spcAft>
                <a:spcPts val="600"/>
              </a:spcAft>
            </a:pPr>
            <a:r>
              <a:rPr b="1" sz="1400"/>
              <a:t>Forum — kasus Rendi: </a:t>
            </a:r>
            <a:r>
              <a:rPr sz="1400"/>
              <a:t>setup vibration monitoring 8 motor 11 kW; BPFI 121 Hz, gear mesh 1,5 kHz; DAQ maks 50 kHz.</a:t>
            </a:r>
          </a:p>
          <a:p>
            <a:pPr>
              <a:spcAft>
                <a:spcPts val="600"/>
              </a:spcAft>
            </a:pPr>
            <a:r>
              <a:rPr b="1" sz="1400"/>
              <a:t>Diskusi: </a:t>
            </a:r>
            <a:r>
              <a:rPr sz="1400"/>
              <a:t>(1) pilih sampling rate + alasan; (2) statistik apa disimpan &amp; window-nya; (3) alert rule-based ISO 10816 + persistence.</a:t>
            </a:r>
          </a:p>
          <a:p>
            <a:pPr>
              <a:spcAft>
                <a:spcPts val="600"/>
              </a:spcAft>
            </a:pPr>
            <a:r>
              <a:rPr b="1" sz="1400"/>
              <a:t>Minimal </a:t>
            </a:r>
            <a:r>
              <a:rPr sz="1400"/>
              <a:t>30 kata per jawaban forum; kerjakan sebelum deadline pada jadwal LMS.</a:t>
            </a:r>
          </a:p>
        </p:txBody>
      </p:sp>
      <p:sp>
        <p:nvSpPr>
          <p:cNvPr id="194" name="Google Shape;194;p10"/>
          <p:cNvSpPr txBox="1"/>
          <p:nvPr>
            <p:ph type="title"/>
          </p:nvPr>
        </p:nvSpPr>
        <p:spPr>
          <a:xfrm>
            <a:off x="1791854" y="446045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Tugas &amp; Forum Diskusi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10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6" name="Google Shape;196;p10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cxnSp>
        <p:nvCxnSpPr>
          <p:cNvPr id="198" name="Google Shape;198;p10"/>
          <p:cNvCxnSpPr/>
          <p:nvPr/>
        </p:nvCxnSpPr>
        <p:spPr>
          <a:xfrm>
            <a:off x="1871854" y="1514437"/>
            <a:ext cx="9481945" cy="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1"/>
          <p:cNvSpPr txBox="1"/>
          <p:nvPr>
            <p:ph type="title"/>
          </p:nvPr>
        </p:nvSpPr>
        <p:spPr>
          <a:xfrm>
            <a:off x="1791854" y="500062"/>
            <a:ext cx="956194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400"/>
              <a:buFont typeface="Open Sans"/>
              <a:buNone/>
            </a:pPr>
            <a:r>
              <a:rPr b="1" lang="en-US">
                <a:solidFill>
                  <a:srgbClr val="0070C0"/>
                </a:solidFill>
                <a:latin typeface="Open Sans"/>
                <a:ea typeface="Open Sans"/>
                <a:cs typeface="Open Sans"/>
                <a:sym typeface="Open Sans"/>
              </a:rPr>
              <a:t>DAFTAR PUSTAKA</a:t>
            </a:r>
            <a:endParaRPr b="1">
              <a:solidFill>
                <a:srgbClr val="0070C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11"/>
          <p:cNvSpPr txBox="1"/>
          <p:nvPr>
            <p:ph idx="1" type="body"/>
          </p:nvPr>
        </p:nvSpPr>
        <p:spPr>
          <a:xfrm>
            <a:off x="1791854" y="1825625"/>
            <a:ext cx="956194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200"/>
              <a:t>Box, G. E. P., &amp; Cox, D. R. (1964). An analysis of transformations. Journal of the Royal Statistical Society: Series B, 26(2), 211–252.</a:t>
            </a:r>
            <a:endParaRPr/>
          </a:p>
          <a:p>
            <a:pPr>
              <a:spcAft>
                <a:spcPts val="600"/>
              </a:spcAft>
            </a:pPr>
            <a:r>
              <a:rPr sz="1200"/>
              <a:t>Cleveland, R. B., Cleveland, W. S., McRae, J. E., &amp; Terpenning, I. (1990). STL: A seasonal-trend decomposition procedure based on loess. Journal of Official Statistics, 6(1), 3–73.</a:t>
            </a:r>
          </a:p>
          <a:p>
            <a:pPr>
              <a:spcAft>
                <a:spcPts val="600"/>
              </a:spcAft>
            </a:pPr>
            <a:r>
              <a:rPr sz="1200"/>
              <a:t>Hyndman, R. J., &amp; Athanasopoulos, G. (2021). Forecasting: Principles and Practice (3rd ed.). OTexts. https://otexts.com/fpp3/</a:t>
            </a:r>
          </a:p>
          <a:p>
            <a:pPr>
              <a:spcAft>
                <a:spcPts val="600"/>
              </a:spcAft>
            </a:pPr>
            <a:r>
              <a:rPr sz="1200"/>
              <a:t>Mohanty, A. R. (2015). Machinery Condition Monitoring: Principles and Practices. CRC Press.</a:t>
            </a:r>
          </a:p>
          <a:p>
            <a:pPr>
              <a:spcAft>
                <a:spcPts val="600"/>
              </a:spcAft>
            </a:pPr>
            <a:r>
              <a:rPr sz="1200"/>
              <a:t>Seabold, S., &amp; Perktold, J. (2010). Statsmodels: Econometric and statistical modeling with Python. Proc. 9th Python in Science Conf. https://www.statsmodels.org/stable/tsa.html</a:t>
            </a:r>
          </a:p>
          <a:p>
            <a:pPr>
              <a:spcAft>
                <a:spcPts val="600"/>
              </a:spcAft>
            </a:pPr>
            <a:r>
              <a:rPr sz="1200"/>
              <a:t>Pedregosa, F., et al. (2011). Scikit-learn: Machine learning in Python. JMLR, 12, 2825–2830. https://scikit-learn.org/stable/modules/preprocessing.html</a:t>
            </a:r>
          </a:p>
        </p:txBody>
      </p:sp>
      <p:sp>
        <p:nvSpPr>
          <p:cNvPr id="205" name="Google Shape;205;p11">
            <a:hlinkClick action="ppaction://hlinksldjump" r:id="rId3"/>
          </p:cNvPr>
          <p:cNvSpPr/>
          <p:nvPr/>
        </p:nvSpPr>
        <p:spPr>
          <a:xfrm>
            <a:off x="10815783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Next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6" name="Google Shape;206;p11">
            <a:hlinkClick action="ppaction://hlinksldjump" r:id="rId4"/>
          </p:cNvPr>
          <p:cNvSpPr/>
          <p:nvPr/>
        </p:nvSpPr>
        <p:spPr>
          <a:xfrm flipH="1">
            <a:off x="10042715" y="5835217"/>
            <a:ext cx="689940" cy="341746"/>
          </a:xfrm>
          <a:prstGeom prst="homePlate">
            <a:avLst>
              <a:gd fmla="val 5000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Back</a:t>
            </a:r>
            <a:endParaRPr b="1" sz="14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9453468" y="6230980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"/>
          <p:cNvSpPr txBox="1"/>
          <p:nvPr/>
        </p:nvSpPr>
        <p:spPr>
          <a:xfrm>
            <a:off x="3932553" y="2355793"/>
            <a:ext cx="5421746" cy="189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TERIMA</a:t>
            </a:r>
            <a:endParaRPr/>
          </a:p>
          <a:p>
            <a:pPr indent="0" lvl="0" marL="0" marR="0" rtl="0" algn="l">
              <a:lnSpc>
                <a:spcPct val="97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KASIH</a:t>
            </a:r>
            <a:endParaRPr b="1" sz="72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3932553" y="4249068"/>
            <a:ext cx="2650734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https://myclass.mercubuana.ac.id</a:t>
            </a: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10010418" y="5689811"/>
            <a:ext cx="1404332" cy="352301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65B151"/>
              </a:gs>
              <a:gs pos="50000">
                <a:srgbClr val="4BAD26"/>
              </a:gs>
              <a:gs pos="100000">
                <a:srgbClr val="3F9E1C"/>
              </a:gs>
            </a:gsLst>
            <a:lin ang="5400000" scaled="0"/>
          </a:gradFill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Akhiri Presentasi</a:t>
            </a:r>
            <a:endParaRPr b="1" sz="1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2025-08-22T02:44:46Z</dcterms:created>
  <dc:creator>PBA EL 1</dc:creator>
</cp:coreProperties>
</file>